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60" r:id="rId2"/>
    <p:sldId id="261" r:id="rId3"/>
    <p:sldId id="262" r:id="rId4"/>
    <p:sldId id="263" r:id="rId5"/>
    <p:sldId id="259" r:id="rId6"/>
    <p:sldId id="256" r:id="rId7"/>
    <p:sldId id="257" r:id="rId8"/>
    <p:sldId id="258" r:id="rId9"/>
    <p:sldId id="264" r:id="rId10"/>
    <p:sldId id="266" r:id="rId11"/>
    <p:sldId id="268" r:id="rId12"/>
    <p:sldId id="265" r:id="rId13"/>
    <p:sldId id="267" r:id="rId14"/>
    <p:sldId id="269" r:id="rId15"/>
    <p:sldId id="270" r:id="rId16"/>
    <p:sldId id="271" r:id="rId17"/>
    <p:sldId id="274" r:id="rId18"/>
    <p:sldId id="273" r:id="rId19"/>
    <p:sldId id="272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F093A-D559-A94E-83C2-6A0119FD6BF4}" v="42" dt="2026-10-01T14:12:36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3"/>
    <p:restoredTop sz="94608"/>
  </p:normalViewPr>
  <p:slideViewPr>
    <p:cSldViewPr snapToGrid="0">
      <p:cViewPr varScale="1">
        <p:scale>
          <a:sx n="118" d="100"/>
          <a:sy n="118" d="100"/>
        </p:scale>
        <p:origin x="24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vakar Datta" userId="1855cff5bafcf2b4" providerId="LiveId" clId="{11A1B81C-7E8D-5F06-8896-E566070F4A87}"/>
    <pc:docChg chg="undo custSel addSld delSld modSld sldOrd">
      <pc:chgData name="Provakar Datta" userId="1855cff5bafcf2b4" providerId="LiveId" clId="{11A1B81C-7E8D-5F06-8896-E566070F4A87}" dt="2026-10-01T14:13:05.080" v="1672" actId="1076"/>
      <pc:docMkLst>
        <pc:docMk/>
      </pc:docMkLst>
      <pc:sldChg chg="delSp modSp new mod">
        <pc:chgData name="Provakar Datta" userId="1855cff5bafcf2b4" providerId="LiveId" clId="{11A1B81C-7E8D-5F06-8896-E566070F4A87}" dt="2026-09-21T14:16:13.901" v="1410" actId="478"/>
        <pc:sldMkLst>
          <pc:docMk/>
          <pc:sldMk cId="1267867737" sldId="281"/>
        </pc:sldMkLst>
        <pc:spChg chg="mod">
          <ac:chgData name="Provakar Datta" userId="1855cff5bafcf2b4" providerId="LiveId" clId="{11A1B81C-7E8D-5F06-8896-E566070F4A87}" dt="2026-09-21T14:16:10.920" v="1409" actId="20577"/>
          <ac:spMkLst>
            <pc:docMk/>
            <pc:sldMk cId="1267867737" sldId="281"/>
            <ac:spMk id="2" creationId="{1A28E3DC-B96C-CDB3-8642-D3DDD4F9E8BF}"/>
          </ac:spMkLst>
        </pc:spChg>
      </pc:sldChg>
      <pc:sldChg chg="addSp delSp modSp add mod">
        <pc:chgData name="Provakar Datta" userId="1855cff5bafcf2b4" providerId="LiveId" clId="{11A1B81C-7E8D-5F06-8896-E566070F4A87}" dt="2026-09-21T14:21:20.602" v="1450" actId="478"/>
        <pc:sldMkLst>
          <pc:docMk/>
          <pc:sldMk cId="3993550320" sldId="282"/>
        </pc:sldMkLst>
        <pc:picChg chg="add mod">
          <ac:chgData name="Provakar Datta" userId="1855cff5bafcf2b4" providerId="LiveId" clId="{11A1B81C-7E8D-5F06-8896-E566070F4A87}" dt="2026-09-21T14:17:53.115" v="1428" actId="14100"/>
          <ac:picMkLst>
            <pc:docMk/>
            <pc:sldMk cId="3993550320" sldId="282"/>
            <ac:picMk id="6" creationId="{0FE1F3BB-7EC8-311F-0DE5-10E88B9C854F}"/>
          </ac:picMkLst>
        </pc:picChg>
        <pc:picChg chg="add mod">
          <ac:chgData name="Provakar Datta" userId="1855cff5bafcf2b4" providerId="LiveId" clId="{11A1B81C-7E8D-5F06-8896-E566070F4A87}" dt="2026-09-21T14:17:56.190" v="1429" actId="1076"/>
          <ac:picMkLst>
            <pc:docMk/>
            <pc:sldMk cId="3993550320" sldId="282"/>
            <ac:picMk id="8" creationId="{184FF4B9-776B-FE39-C660-86FAA2CC4DC0}"/>
          </ac:picMkLst>
        </pc:picChg>
        <pc:picChg chg="add mod">
          <ac:chgData name="Provakar Datta" userId="1855cff5bafcf2b4" providerId="LiveId" clId="{11A1B81C-7E8D-5F06-8896-E566070F4A87}" dt="2026-09-21T14:18:23.790" v="1437" actId="14100"/>
          <ac:picMkLst>
            <pc:docMk/>
            <pc:sldMk cId="3993550320" sldId="282"/>
            <ac:picMk id="10" creationId="{ED10CFD1-7A16-A3B3-D8D8-C5A8DBBBE121}"/>
          </ac:picMkLst>
        </pc:picChg>
        <pc:picChg chg="add mod">
          <ac:chgData name="Provakar Datta" userId="1855cff5bafcf2b4" providerId="LiveId" clId="{11A1B81C-7E8D-5F06-8896-E566070F4A87}" dt="2026-09-21T14:19:11.625" v="1442" actId="1076"/>
          <ac:picMkLst>
            <pc:docMk/>
            <pc:sldMk cId="3993550320" sldId="282"/>
            <ac:picMk id="12" creationId="{4279733D-A04F-0F92-67AF-4830E2C72ABB}"/>
          </ac:picMkLst>
        </pc:picChg>
        <pc:picChg chg="add mod">
          <ac:chgData name="Provakar Datta" userId="1855cff5bafcf2b4" providerId="LiveId" clId="{11A1B81C-7E8D-5F06-8896-E566070F4A87}" dt="2026-09-21T14:20:30.344" v="1446" actId="1076"/>
          <ac:picMkLst>
            <pc:docMk/>
            <pc:sldMk cId="3993550320" sldId="282"/>
            <ac:picMk id="14" creationId="{5F88DFD4-B957-855D-37A5-7E395896FCDD}"/>
          </ac:picMkLst>
        </pc:picChg>
      </pc:sldChg>
      <pc:sldChg chg="addSp delSp modSp add mod">
        <pc:chgData name="Provakar Datta" userId="1855cff5bafcf2b4" providerId="LiveId" clId="{11A1B81C-7E8D-5F06-8896-E566070F4A87}" dt="2026-09-21T14:22:26.425" v="1459" actId="1037"/>
        <pc:sldMkLst>
          <pc:docMk/>
          <pc:sldMk cId="313037747" sldId="283"/>
        </pc:sldMkLst>
        <pc:picChg chg="add mod">
          <ac:chgData name="Provakar Datta" userId="1855cff5bafcf2b4" providerId="LiveId" clId="{11A1B81C-7E8D-5F06-8896-E566070F4A87}" dt="2026-09-21T14:22:26.425" v="1459" actId="1037"/>
          <ac:picMkLst>
            <pc:docMk/>
            <pc:sldMk cId="313037747" sldId="283"/>
            <ac:picMk id="3" creationId="{0E2A875C-7858-8066-2E8C-4724BEE718B8}"/>
          </ac:picMkLst>
        </pc:picChg>
        <pc:picChg chg="mod">
          <ac:chgData name="Provakar Datta" userId="1855cff5bafcf2b4" providerId="LiveId" clId="{11A1B81C-7E8D-5F06-8896-E566070F4A87}" dt="2026-09-21T14:21:51.140" v="1453" actId="1076"/>
          <ac:picMkLst>
            <pc:docMk/>
            <pc:sldMk cId="313037747" sldId="283"/>
            <ac:picMk id="16" creationId="{898092F8-FA42-8F59-0DB6-0CCB9CA8C7E1}"/>
          </ac:picMkLst>
        </pc:picChg>
      </pc:sldChg>
      <pc:sldChg chg="addSp delSp modSp new mod">
        <pc:chgData name="Provakar Datta" userId="1855cff5bafcf2b4" providerId="LiveId" clId="{11A1B81C-7E8D-5F06-8896-E566070F4A87}" dt="2026-09-21T21:07:07.461" v="1525" actId="20577"/>
        <pc:sldMkLst>
          <pc:docMk/>
          <pc:sldMk cId="2268145897" sldId="284"/>
        </pc:sldMkLst>
        <pc:spChg chg="add mod">
          <ac:chgData name="Provakar Datta" userId="1855cff5bafcf2b4" providerId="LiveId" clId="{11A1B81C-7E8D-5F06-8896-E566070F4A87}" dt="2026-09-21T21:07:07.461" v="1525" actId="20577"/>
          <ac:spMkLst>
            <pc:docMk/>
            <pc:sldMk cId="2268145897" sldId="284"/>
            <ac:spMk id="10" creationId="{35D8BD0B-8A7A-B82D-9DC8-874D8DE0A588}"/>
          </ac:spMkLst>
        </pc:spChg>
        <pc:picChg chg="add mod">
          <ac:chgData name="Provakar Datta" userId="1855cff5bafcf2b4" providerId="LiveId" clId="{11A1B81C-7E8D-5F06-8896-E566070F4A87}" dt="2026-09-21T21:04:34.607" v="1471" actId="1076"/>
          <ac:picMkLst>
            <pc:docMk/>
            <pc:sldMk cId="2268145897" sldId="284"/>
            <ac:picMk id="5" creationId="{A81CDB71-41B6-0039-E55E-4501D6C2ACB5}"/>
          </ac:picMkLst>
        </pc:picChg>
        <pc:picChg chg="add mod">
          <ac:chgData name="Provakar Datta" userId="1855cff5bafcf2b4" providerId="LiveId" clId="{11A1B81C-7E8D-5F06-8896-E566070F4A87}" dt="2026-09-21T21:05:18.287" v="1480" actId="14100"/>
          <ac:picMkLst>
            <pc:docMk/>
            <pc:sldMk cId="2268145897" sldId="284"/>
            <ac:picMk id="7" creationId="{C3220A49-0224-48F9-E7BA-C528D425AD5F}"/>
          </ac:picMkLst>
        </pc:picChg>
        <pc:picChg chg="add mod">
          <ac:chgData name="Provakar Datta" userId="1855cff5bafcf2b4" providerId="LiveId" clId="{11A1B81C-7E8D-5F06-8896-E566070F4A87}" dt="2026-09-21T21:05:12.855" v="1478" actId="1076"/>
          <ac:picMkLst>
            <pc:docMk/>
            <pc:sldMk cId="2268145897" sldId="284"/>
            <ac:picMk id="9" creationId="{9E1A6636-F034-24FC-584F-7FA363ED0FAA}"/>
          </ac:picMkLst>
        </pc:picChg>
      </pc:sldChg>
      <pc:sldChg chg="addSp delSp modSp new mod">
        <pc:chgData name="Provakar Datta" userId="1855cff5bafcf2b4" providerId="LiveId" clId="{11A1B81C-7E8D-5F06-8896-E566070F4A87}" dt="2026-10-01T14:13:05.080" v="1672" actId="1076"/>
        <pc:sldMkLst>
          <pc:docMk/>
          <pc:sldMk cId="2111358973" sldId="285"/>
        </pc:sldMkLst>
        <pc:spChg chg="del">
          <ac:chgData name="Provakar Datta" userId="1855cff5bafcf2b4" providerId="LiveId" clId="{11A1B81C-7E8D-5F06-8896-E566070F4A87}" dt="2026-10-01T14:05:07.324" v="1536" actId="478"/>
          <ac:spMkLst>
            <pc:docMk/>
            <pc:sldMk cId="2111358973" sldId="285"/>
            <ac:spMk id="2" creationId="{7E352FCE-F35C-125B-ED6B-A276A3906F15}"/>
          </ac:spMkLst>
        </pc:spChg>
        <pc:spChg chg="del">
          <ac:chgData name="Provakar Datta" userId="1855cff5bafcf2b4" providerId="LiveId" clId="{11A1B81C-7E8D-5F06-8896-E566070F4A87}" dt="2026-10-01T14:05:07.324" v="1536" actId="478"/>
          <ac:spMkLst>
            <pc:docMk/>
            <pc:sldMk cId="2111358973" sldId="285"/>
            <ac:spMk id="3" creationId="{5E5D0E0F-BA3A-E991-2703-B591F226A6CE}"/>
          </ac:spMkLst>
        </pc:spChg>
        <pc:spChg chg="add mod">
          <ac:chgData name="Provakar Datta" userId="1855cff5bafcf2b4" providerId="LiveId" clId="{11A1B81C-7E8D-5F06-8896-E566070F4A87}" dt="2026-10-01T14:11:55.037" v="1639" actId="20577"/>
          <ac:spMkLst>
            <pc:docMk/>
            <pc:sldMk cId="2111358973" sldId="285"/>
            <ac:spMk id="16" creationId="{715E6181-3E67-0125-A023-624FA2142302}"/>
          </ac:spMkLst>
        </pc:spChg>
        <pc:spChg chg="add mod">
          <ac:chgData name="Provakar Datta" userId="1855cff5bafcf2b4" providerId="LiveId" clId="{11A1B81C-7E8D-5F06-8896-E566070F4A87}" dt="2026-10-01T14:13:05.080" v="1672" actId="1076"/>
          <ac:spMkLst>
            <pc:docMk/>
            <pc:sldMk cId="2111358973" sldId="285"/>
            <ac:spMk id="17" creationId="{737BF81C-541F-4F08-73D4-BF2E02C24D4D}"/>
          </ac:spMkLst>
        </pc:spChg>
        <pc:spChg chg="add mod">
          <ac:chgData name="Provakar Datta" userId="1855cff5bafcf2b4" providerId="LiveId" clId="{11A1B81C-7E8D-5F06-8896-E566070F4A87}" dt="2026-10-01T14:13:01.690" v="1671" actId="1076"/>
          <ac:spMkLst>
            <pc:docMk/>
            <pc:sldMk cId="2111358973" sldId="285"/>
            <ac:spMk id="18" creationId="{185223AA-9835-1310-93CA-325BC1FF7586}"/>
          </ac:spMkLst>
        </pc:spChg>
        <pc:picChg chg="add mod">
          <ac:chgData name="Provakar Datta" userId="1855cff5bafcf2b4" providerId="LiveId" clId="{11A1B81C-7E8D-5F06-8896-E566070F4A87}" dt="2026-10-01T14:10:19.829" v="1562" actId="1076"/>
          <ac:picMkLst>
            <pc:docMk/>
            <pc:sldMk cId="2111358973" sldId="285"/>
            <ac:picMk id="5" creationId="{73F4E044-CB91-F5C3-2E9A-5523006A5830}"/>
          </ac:picMkLst>
        </pc:picChg>
        <pc:picChg chg="add mod">
          <ac:chgData name="Provakar Datta" userId="1855cff5bafcf2b4" providerId="LiveId" clId="{11A1B81C-7E8D-5F06-8896-E566070F4A87}" dt="2026-10-01T14:10:19.829" v="1562" actId="1076"/>
          <ac:picMkLst>
            <pc:docMk/>
            <pc:sldMk cId="2111358973" sldId="285"/>
            <ac:picMk id="7" creationId="{3C51C75D-BE6B-9F97-8A17-F3953FD6557F}"/>
          </ac:picMkLst>
        </pc:picChg>
        <pc:picChg chg="add mod">
          <ac:chgData name="Provakar Datta" userId="1855cff5bafcf2b4" providerId="LiveId" clId="{11A1B81C-7E8D-5F06-8896-E566070F4A87}" dt="2026-10-01T14:10:19.829" v="1562" actId="1076"/>
          <ac:picMkLst>
            <pc:docMk/>
            <pc:sldMk cId="2111358973" sldId="285"/>
            <ac:picMk id="9" creationId="{3D1CA46E-6A2A-3FFD-DFDF-EF51B1217A1D}"/>
          </ac:picMkLst>
        </pc:picChg>
        <pc:picChg chg="add mod">
          <ac:chgData name="Provakar Datta" userId="1855cff5bafcf2b4" providerId="LiveId" clId="{11A1B81C-7E8D-5F06-8896-E566070F4A87}" dt="2026-10-01T14:08:28.471" v="1553" actId="1076"/>
          <ac:picMkLst>
            <pc:docMk/>
            <pc:sldMk cId="2111358973" sldId="285"/>
            <ac:picMk id="11" creationId="{9491D19A-BB4C-17A5-F10D-0C36641469EC}"/>
          </ac:picMkLst>
        </pc:picChg>
        <pc:picChg chg="add mod">
          <ac:chgData name="Provakar Datta" userId="1855cff5bafcf2b4" providerId="LiveId" clId="{11A1B81C-7E8D-5F06-8896-E566070F4A87}" dt="2026-10-01T14:09:07.267" v="1557" actId="1076"/>
          <ac:picMkLst>
            <pc:docMk/>
            <pc:sldMk cId="2111358973" sldId="285"/>
            <ac:picMk id="13" creationId="{00998B15-9866-BE06-C137-2433C7FB05D1}"/>
          </ac:picMkLst>
        </pc:picChg>
        <pc:picChg chg="add mod">
          <ac:chgData name="Provakar Datta" userId="1855cff5bafcf2b4" providerId="LiveId" clId="{11A1B81C-7E8D-5F06-8896-E566070F4A87}" dt="2026-10-01T14:10:14.228" v="1561" actId="1076"/>
          <ac:picMkLst>
            <pc:docMk/>
            <pc:sldMk cId="2111358973" sldId="285"/>
            <ac:picMk id="15" creationId="{F36D510A-AB06-9DC2-FD2F-98F0AF62DB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2C7D6-1670-B54B-913C-961F8518B76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2D5E3-4E74-3049-AFEC-5200AB396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9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2D5E3-4E74-3049-AFEC-5200AB3969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91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2D5E3-4E74-3049-AFEC-5200AB3969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74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7D65-7699-7C9F-0521-9316A041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5E88-F11A-F1E3-F06B-598801828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AB01C-51EB-74B6-80E9-F826C5976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71E9A-136E-4146-FA6C-318FC0DBB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2D5E3-4E74-3049-AFEC-5200AB3969A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0EA7-A936-1AF1-4B58-B9475E945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67983-2227-CC6B-0A9E-6CC31CE3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53810-0A60-5171-0752-9ACE47C6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FCF57-2777-4741-BB12-72F783E1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1B38C-C149-7A8D-FDDA-36398DDE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0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B567E-4522-8737-3B2A-00012EDA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6CD-93E5-45C0-DDE3-7D215451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27D22-4725-84C8-E2E9-AA4B24E6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A79B1-9B9B-185D-53C1-3E76FAFF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7C70B-66BB-34EE-46F0-A1A2C093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9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4193-232E-3F73-D6D6-AE30803A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2E459-E44F-1AD8-334C-01D81ACB2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6707A-FA45-A5B4-EA9C-6F77A2F4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4BC6F-0BCB-336C-C116-015D8820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FB00E-2344-D8DC-A3B6-1630B1FA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4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D9F3-9490-33C5-35C0-D5A82442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299DD-66BB-1BF4-8552-C68703548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4F8D4-0447-592B-D44A-426EDC184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D63D3-8D09-970B-98B7-D5E71D75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FB3A6-EB7D-5F12-8FC7-0C72B647A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F2B04-19A9-FF59-0E77-846F61DD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9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963D-3D53-0A14-6B00-6ADB8428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590A-1B79-BE96-AE8C-25878BB54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90D52-11FD-D359-ACE6-6FFD49909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E99F6-EA99-5B92-1A85-301683A3F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7A41D-0659-BA5A-6543-06A8C54AA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AAC27-7224-08FF-4C15-2BBC7E17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137E5-1433-1974-C4B1-33CEDB09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58D99-C912-2EB7-18C1-1B1558BF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1023-9592-2556-F3D8-595BA4BE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11CEE-A6BE-B20A-8590-C3E656F4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C1C48-5BE5-75B5-898B-8FA1465F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53F9C-D4AE-877A-D0A3-85269AAE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1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8A595-1057-B468-B5ED-3BA0591E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F1CE2-F924-52A1-7729-549F0157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A2A7-6A9F-DD0D-07F8-77F8CD23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1B7F-94E1-E530-7902-52204723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E908-EC5B-5D49-FF52-883302A66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4E41E-40D9-6949-7555-DF7DC10F4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032C5-5DF0-D109-39FA-AEC77318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47CE5-D904-CA4C-3D37-D88127DA3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860E4-AE02-1BB2-9181-1B92547B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0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800A-CF3C-8544-10D8-91E8DAE17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DFA04-7964-AF09-D07E-21AE3DC53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46D2F-9484-DE7B-809B-8AFB5D908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D8DD-AA0D-AB62-84B3-9AB90DF9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A5F3D-2CF2-E240-4126-16E7790D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4C02F-E079-FCB0-846D-24C39546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7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F430-51DA-DC91-4054-47424BCC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CAF0A-4271-CAEF-B108-4C77674BF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F0E5D-6670-2CD1-4E3A-CF2E2FF9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E5491-6231-CE20-535E-FBCCB5D7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B15E1-D45C-2AA0-0796-6D431C7C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8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ABBD0-6BA5-50EE-7129-F42A77EE8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A7BD9-51E3-296A-23D5-E2A9C74B8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2EAB2-3A4F-5403-1681-3D281449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D5561-2F8F-38D5-4E3F-F59DD35B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2A68-E343-20F1-3F15-9B188EF6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3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452F8-4440-6C33-3D84-907AA614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6B08B-1498-2C46-3A7B-99CFF0D17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4A90B-1E03-ABBB-E142-DA7B736CE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6B910-2DFC-9B41-892B-F1236BC56580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A1336-7612-AFFA-4732-DBADBF9DC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D3233-EF07-6CC0-33E7-75622371F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FF247-3F32-BB44-BE97-94793D772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6330-166D-B6E1-8C96-18C8CD48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18A8-D3A8-6E4A-2E67-F148382B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SSA Analysis: A_LU vs 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2EA6-654D-831B-A759-9F9629816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Settings:</a:t>
            </a:r>
          </a:p>
          <a:p>
            <a:pPr lvl="1"/>
            <a:r>
              <a:rPr lang="en-US" dirty="0"/>
              <a:t>Target	: C</a:t>
            </a:r>
          </a:p>
          <a:p>
            <a:pPr lvl="1"/>
            <a:r>
              <a:rPr lang="en-US" dirty="0"/>
              <a:t>Hadron	: pi+</a:t>
            </a:r>
          </a:p>
          <a:p>
            <a:pPr lvl="1"/>
            <a:r>
              <a:rPr lang="en-US" dirty="0"/>
              <a:t>z		: 0.5</a:t>
            </a:r>
          </a:p>
          <a:p>
            <a:pPr lvl="1"/>
            <a:r>
              <a:rPr lang="en-US" dirty="0" err="1"/>
              <a:t>thpq</a:t>
            </a:r>
            <a:r>
              <a:rPr lang="en-US" dirty="0"/>
              <a:t>	: -0.8, 2.0 and 5.2 (combined analysis)</a:t>
            </a:r>
          </a:p>
        </p:txBody>
      </p:sp>
    </p:spTree>
    <p:extLst>
      <p:ext uri="{BB962C8B-B14F-4D97-AF65-F5344CB8AC3E}">
        <p14:creationId xmlns:p14="http://schemas.microsoft.com/office/powerpoint/2010/main" val="103769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656666-97B1-204F-A8EC-6B6A00480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509" y="89415"/>
            <a:ext cx="2329570" cy="1924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98C215-74AA-3D11-452A-55CC6A643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08" y="2235622"/>
            <a:ext cx="2329570" cy="1950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6E2980-D4AA-E6DB-1244-93A6B0F57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508" y="4434029"/>
            <a:ext cx="2331070" cy="1924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1C0E72-14EA-1275-379C-F337398E7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9415"/>
            <a:ext cx="3258065" cy="20060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F6F24E-E04B-6C65-AF80-092D1B975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305" y="2255651"/>
            <a:ext cx="3189789" cy="19508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638B6D-650A-D095-2F04-A3723C8DBA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0166" y="4393108"/>
            <a:ext cx="3258065" cy="2006577"/>
          </a:xfrm>
          <a:prstGeom prst="rect">
            <a:avLst/>
          </a:prstGeom>
        </p:spPr>
      </p:pic>
      <p:sp>
        <p:nvSpPr>
          <p:cNvPr id="16" name="Right Arrow Callout 15">
            <a:extLst>
              <a:ext uri="{FF2B5EF4-FFF2-40B4-BE49-F238E27FC236}">
                <a16:creationId xmlns:a16="http://schemas.microsoft.com/office/drawing/2014/main" id="{02CA0BB3-58E4-4B73-B04D-72C27E7A0FB2}"/>
              </a:ext>
            </a:extLst>
          </p:cNvPr>
          <p:cNvSpPr/>
          <p:nvPr/>
        </p:nvSpPr>
        <p:spPr>
          <a:xfrm>
            <a:off x="412205" y="535206"/>
            <a:ext cx="1995054" cy="103315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14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thpq</a:t>
            </a:r>
            <a:r>
              <a:rPr lang="en-US" sz="2400" dirty="0">
                <a:solidFill>
                  <a:schemeClr val="tx1"/>
                </a:solidFill>
              </a:rPr>
              <a:t> = -0.8</a:t>
            </a:r>
          </a:p>
        </p:txBody>
      </p:sp>
      <p:sp>
        <p:nvSpPr>
          <p:cNvPr id="17" name="Right Arrow Callout 16">
            <a:extLst>
              <a:ext uri="{FF2B5EF4-FFF2-40B4-BE49-F238E27FC236}">
                <a16:creationId xmlns:a16="http://schemas.microsoft.com/office/drawing/2014/main" id="{BB65CC70-5A27-5594-EF07-3F4E6295DFBB}"/>
              </a:ext>
            </a:extLst>
          </p:cNvPr>
          <p:cNvSpPr/>
          <p:nvPr/>
        </p:nvSpPr>
        <p:spPr>
          <a:xfrm>
            <a:off x="412205" y="2714492"/>
            <a:ext cx="1995054" cy="103315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14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thpq</a:t>
            </a:r>
            <a:r>
              <a:rPr lang="en-US" sz="2400" dirty="0">
                <a:solidFill>
                  <a:schemeClr val="tx1"/>
                </a:solidFill>
              </a:rPr>
              <a:t> = 2.0</a:t>
            </a:r>
          </a:p>
        </p:txBody>
      </p:sp>
      <p:sp>
        <p:nvSpPr>
          <p:cNvPr id="18" name="Right Arrow Callout 17">
            <a:extLst>
              <a:ext uri="{FF2B5EF4-FFF2-40B4-BE49-F238E27FC236}">
                <a16:creationId xmlns:a16="http://schemas.microsoft.com/office/drawing/2014/main" id="{65916BE4-3336-33AC-72A2-7289B5AB8EB8}"/>
              </a:ext>
            </a:extLst>
          </p:cNvPr>
          <p:cNvSpPr/>
          <p:nvPr/>
        </p:nvSpPr>
        <p:spPr>
          <a:xfrm>
            <a:off x="412205" y="4879819"/>
            <a:ext cx="1995054" cy="103315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14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thpq</a:t>
            </a:r>
            <a:r>
              <a:rPr lang="en-US" sz="2400" dirty="0">
                <a:solidFill>
                  <a:schemeClr val="tx1"/>
                </a:solidFill>
              </a:rPr>
              <a:t> = 5.2</a:t>
            </a:r>
          </a:p>
        </p:txBody>
      </p:sp>
    </p:spTree>
    <p:extLst>
      <p:ext uri="{BB962C8B-B14F-4D97-AF65-F5344CB8AC3E}">
        <p14:creationId xmlns:p14="http://schemas.microsoft.com/office/powerpoint/2010/main" val="2267153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66D1D-BF78-A550-061C-21FEAEB6F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00" y="1474743"/>
            <a:ext cx="5499100" cy="334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F62B3-2CC7-FABE-1B2F-CA873422E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38" y="1474743"/>
            <a:ext cx="4965408" cy="35420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F260AE-DC19-D0E3-469F-3AA700AC77CC}"/>
              </a:ext>
            </a:extLst>
          </p:cNvPr>
          <p:cNvSpPr/>
          <p:nvPr/>
        </p:nvSpPr>
        <p:spPr>
          <a:xfrm>
            <a:off x="2962893" y="1649110"/>
            <a:ext cx="973776" cy="2959958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6EF59B-CC92-5E0A-4B3E-D45B234F0A98}"/>
              </a:ext>
            </a:extLst>
          </p:cNvPr>
          <p:cNvCxnSpPr/>
          <p:nvPr/>
        </p:nvCxnSpPr>
        <p:spPr>
          <a:xfrm>
            <a:off x="4047882" y="2162432"/>
            <a:ext cx="26617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2E022F-A3F7-6348-CDD4-100D2A94197F}"/>
              </a:ext>
            </a:extLst>
          </p:cNvPr>
          <p:cNvSpPr txBox="1"/>
          <p:nvPr/>
        </p:nvSpPr>
        <p:spPr>
          <a:xfrm>
            <a:off x="321715" y="358346"/>
            <a:ext cx="464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A_LU vs Pt for </a:t>
            </a:r>
            <a:r>
              <a:rPr lang="en-US" b="1" dirty="0" err="1"/>
              <a:t>thpq</a:t>
            </a:r>
            <a:r>
              <a:rPr lang="en-US" b="1" dirty="0"/>
              <a:t> = -0.8 and 2.0 combined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5C893-864F-789E-E158-A4E7A7ED7ABF}"/>
              </a:ext>
            </a:extLst>
          </p:cNvPr>
          <p:cNvSpPr txBox="1"/>
          <p:nvPr/>
        </p:nvSpPr>
        <p:spPr>
          <a:xfrm>
            <a:off x="1205382" y="5568387"/>
            <a:ext cx="978123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Bin [0.2,0.3) seems to give the best asymmetry, however, the statistics around phi = 0 is very poor!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67A42B-7C06-0E1E-A698-11BCC0E28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06" y="1704888"/>
            <a:ext cx="1328207" cy="6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8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69D3B-E601-CD0C-5C31-2C70C2FA6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57" y="1482638"/>
            <a:ext cx="5065150" cy="3534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6882C2-5D11-8694-0E64-4895A8DD4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38" y="1474743"/>
            <a:ext cx="4965408" cy="3542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21E15A-11AA-762E-61FC-70C47FFC4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06" y="1704888"/>
            <a:ext cx="1328207" cy="655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A64C8-E90E-0003-1DC6-89F0F9A37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250" y="1704888"/>
            <a:ext cx="1503020" cy="74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F6D151-567F-BAD2-E207-EB03C0577E28}"/>
              </a:ext>
            </a:extLst>
          </p:cNvPr>
          <p:cNvSpPr txBox="1"/>
          <p:nvPr/>
        </p:nvSpPr>
        <p:spPr>
          <a:xfrm>
            <a:off x="2332411" y="1021278"/>
            <a:ext cx="223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Averaged over all 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6C579-7447-2182-A982-315204C53E22}"/>
              </a:ext>
            </a:extLst>
          </p:cNvPr>
          <p:cNvSpPr txBox="1"/>
          <p:nvPr/>
        </p:nvSpPr>
        <p:spPr>
          <a:xfrm>
            <a:off x="8030908" y="1021278"/>
            <a:ext cx="159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0.2 &lt;= Pt &lt; 0.3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FFD39-C5CE-44F7-4564-EB57718EAAAF}"/>
              </a:ext>
            </a:extLst>
          </p:cNvPr>
          <p:cNvSpPr txBox="1"/>
          <p:nvPr/>
        </p:nvSpPr>
        <p:spPr>
          <a:xfrm>
            <a:off x="2293036" y="5606757"/>
            <a:ext cx="7605928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Binning in Pt increases A_LU from </a:t>
            </a:r>
            <a:r>
              <a:rPr lang="en-US" b="1" dirty="0">
                <a:solidFill>
                  <a:srgbClr val="FF0000"/>
                </a:solidFill>
              </a:rPr>
              <a:t>+0.0138 +/- 0.0074 </a:t>
            </a:r>
            <a:r>
              <a:rPr lang="en-US" dirty="0"/>
              <a:t>to </a:t>
            </a:r>
            <a:r>
              <a:rPr lang="en-US" b="1" dirty="0">
                <a:solidFill>
                  <a:srgbClr val="00B050"/>
                </a:solidFill>
              </a:rPr>
              <a:t>+0.0540 +/- 0.0153</a:t>
            </a:r>
          </a:p>
          <a:p>
            <a:pPr>
              <a:lnSpc>
                <a:spcPct val="150000"/>
              </a:lnSpc>
            </a:pPr>
            <a:r>
              <a:rPr lang="en-US" dirty="0"/>
              <a:t>The statistics is very poor near phi = 0 though.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06A9F-52FC-909A-213E-51ACF40D2CD8}"/>
              </a:ext>
            </a:extLst>
          </p:cNvPr>
          <p:cNvSpPr txBox="1"/>
          <p:nvPr/>
        </p:nvSpPr>
        <p:spPr>
          <a:xfrm>
            <a:off x="321715" y="358346"/>
            <a:ext cx="298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A_LU w/ and w/o Pt binning</a:t>
            </a:r>
          </a:p>
        </p:txBody>
      </p:sp>
    </p:spTree>
    <p:extLst>
      <p:ext uri="{BB962C8B-B14F-4D97-AF65-F5344CB8AC3E}">
        <p14:creationId xmlns:p14="http://schemas.microsoft.com/office/powerpoint/2010/main" val="120367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20EE-6492-265B-EA53-EA4BB9CA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SSA Analysis: A_LU vs 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24A1F-4F86-44DC-C7C9-A5AFD21E6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Settings:</a:t>
            </a:r>
          </a:p>
          <a:p>
            <a:pPr lvl="1"/>
            <a:r>
              <a:rPr lang="en-US" dirty="0"/>
              <a:t>Target	: C</a:t>
            </a:r>
          </a:p>
          <a:p>
            <a:pPr lvl="1"/>
            <a:r>
              <a:rPr lang="en-US" dirty="0"/>
              <a:t>Hadron	: pi-</a:t>
            </a:r>
          </a:p>
          <a:p>
            <a:pPr lvl="1"/>
            <a:r>
              <a:rPr lang="en-US" dirty="0"/>
              <a:t>z		: 0.5</a:t>
            </a:r>
          </a:p>
          <a:p>
            <a:pPr lvl="1"/>
            <a:r>
              <a:rPr lang="en-US" dirty="0" err="1"/>
              <a:t>thpq</a:t>
            </a:r>
            <a:r>
              <a:rPr lang="en-US" dirty="0"/>
              <a:t>	: -0.8 and 2.0 (combined analysis)</a:t>
            </a:r>
          </a:p>
        </p:txBody>
      </p:sp>
    </p:spTree>
    <p:extLst>
      <p:ext uri="{BB962C8B-B14F-4D97-AF65-F5344CB8AC3E}">
        <p14:creationId xmlns:p14="http://schemas.microsoft.com/office/powerpoint/2010/main" val="190053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9F07CF-0349-273C-83C6-3085104E3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47" y="58624"/>
            <a:ext cx="4000500" cy="325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73417-23FD-1F2C-C9D5-4454F8984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167" y="58624"/>
            <a:ext cx="5258258" cy="325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765CAE-FA83-7178-B7EB-0B8EF3E51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767" y="3494315"/>
            <a:ext cx="3913480" cy="3244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A914C2-24D8-5CF3-6F0D-578AACDE6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167" y="3494315"/>
            <a:ext cx="5258258" cy="326482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B260747-D1A1-D082-1137-8BF3DC83E2DE}"/>
              </a:ext>
            </a:extLst>
          </p:cNvPr>
          <p:cNvSpPr/>
          <p:nvPr/>
        </p:nvSpPr>
        <p:spPr>
          <a:xfrm>
            <a:off x="8906495" y="365726"/>
            <a:ext cx="973776" cy="6310079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Callout 15">
            <a:extLst>
              <a:ext uri="{FF2B5EF4-FFF2-40B4-BE49-F238E27FC236}">
                <a16:creationId xmlns:a16="http://schemas.microsoft.com/office/drawing/2014/main" id="{96F6B44F-4A11-2050-DE7B-C001AD0041F9}"/>
              </a:ext>
            </a:extLst>
          </p:cNvPr>
          <p:cNvSpPr/>
          <p:nvPr/>
        </p:nvSpPr>
        <p:spPr>
          <a:xfrm>
            <a:off x="152713" y="1167647"/>
            <a:ext cx="1995054" cy="103315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14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thpq</a:t>
            </a:r>
            <a:r>
              <a:rPr lang="en-US" sz="2400" dirty="0">
                <a:solidFill>
                  <a:schemeClr val="tx1"/>
                </a:solidFill>
              </a:rPr>
              <a:t> = -0.8</a:t>
            </a:r>
          </a:p>
        </p:txBody>
      </p:sp>
      <p:sp>
        <p:nvSpPr>
          <p:cNvPr id="17" name="Right Arrow Callout 16">
            <a:extLst>
              <a:ext uri="{FF2B5EF4-FFF2-40B4-BE49-F238E27FC236}">
                <a16:creationId xmlns:a16="http://schemas.microsoft.com/office/drawing/2014/main" id="{BD8CC697-D365-D56B-3D98-6F58B1B56ED4}"/>
              </a:ext>
            </a:extLst>
          </p:cNvPr>
          <p:cNvSpPr/>
          <p:nvPr/>
        </p:nvSpPr>
        <p:spPr>
          <a:xfrm>
            <a:off x="65693" y="4610152"/>
            <a:ext cx="1995054" cy="1033153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14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thpq</a:t>
            </a:r>
            <a:r>
              <a:rPr lang="en-US" sz="2400" dirty="0">
                <a:solidFill>
                  <a:schemeClr val="tx1"/>
                </a:solidFill>
              </a:rPr>
              <a:t> = 2.0</a:t>
            </a:r>
          </a:p>
        </p:txBody>
      </p:sp>
    </p:spTree>
    <p:extLst>
      <p:ext uri="{BB962C8B-B14F-4D97-AF65-F5344CB8AC3E}">
        <p14:creationId xmlns:p14="http://schemas.microsoft.com/office/powerpoint/2010/main" val="322424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1D193-7C11-1E0D-AF32-980201E6B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F3BB3A-4D76-1BC6-A5B5-59B42FEB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15" y="1625600"/>
            <a:ext cx="5930900" cy="360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D0738A-D6AB-2A6C-1F80-0243B764A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590" y="1625600"/>
            <a:ext cx="5160695" cy="3746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113E44-7C5D-DEC9-3BA3-028551C9D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870" y="1933317"/>
            <a:ext cx="1297103" cy="6245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7E75E4-BC5E-75EB-7236-6E3AE4DCBDFB}"/>
              </a:ext>
            </a:extLst>
          </p:cNvPr>
          <p:cNvSpPr/>
          <p:nvPr/>
        </p:nvSpPr>
        <p:spPr>
          <a:xfrm>
            <a:off x="3074106" y="1933318"/>
            <a:ext cx="973776" cy="3108240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A4E97D-53D5-2B69-5A62-6EE690B74468}"/>
              </a:ext>
            </a:extLst>
          </p:cNvPr>
          <p:cNvCxnSpPr/>
          <p:nvPr/>
        </p:nvCxnSpPr>
        <p:spPr>
          <a:xfrm>
            <a:off x="4047882" y="2162432"/>
            <a:ext cx="26617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F953324-7658-C861-38DF-89C2FDC6DB1E}"/>
              </a:ext>
            </a:extLst>
          </p:cNvPr>
          <p:cNvSpPr txBox="1"/>
          <p:nvPr/>
        </p:nvSpPr>
        <p:spPr>
          <a:xfrm>
            <a:off x="321715" y="358346"/>
            <a:ext cx="464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A_LU vs Pt for </a:t>
            </a:r>
            <a:r>
              <a:rPr lang="en-US" b="1" dirty="0" err="1"/>
              <a:t>thpq</a:t>
            </a:r>
            <a:r>
              <a:rPr lang="en-US" b="1" dirty="0"/>
              <a:t> = -0.8 and 2.0 combined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8EAAD-D847-8863-EEA2-5E7BEC2D8452}"/>
              </a:ext>
            </a:extLst>
          </p:cNvPr>
          <p:cNvSpPr txBox="1"/>
          <p:nvPr/>
        </p:nvSpPr>
        <p:spPr>
          <a:xfrm>
            <a:off x="4291331" y="5769232"/>
            <a:ext cx="4836517" cy="46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Bin [0.2,0.3) seems to give the best asymmetry.</a:t>
            </a:r>
          </a:p>
        </p:txBody>
      </p:sp>
    </p:spTree>
    <p:extLst>
      <p:ext uri="{BB962C8B-B14F-4D97-AF65-F5344CB8AC3E}">
        <p14:creationId xmlns:p14="http://schemas.microsoft.com/office/powerpoint/2010/main" val="175833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0457-696B-F081-FA00-E29192A4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FABD71-BD05-252B-4A9E-362512E99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420" y="1625600"/>
            <a:ext cx="5160695" cy="37461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E3559D-26D9-9ABD-576D-CE7B52304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700" y="1933317"/>
            <a:ext cx="1502417" cy="723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2A5AA-00EF-5A53-5100-A2ABF2F5C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01" y="1625600"/>
            <a:ext cx="5337281" cy="3746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0A5EE8-94FF-66FE-2357-EC97D0187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879" y="1896245"/>
            <a:ext cx="1268579" cy="6245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745A4A-1EC5-EDBC-7DD0-3E951E7BDF35}"/>
              </a:ext>
            </a:extLst>
          </p:cNvPr>
          <p:cNvSpPr txBox="1"/>
          <p:nvPr/>
        </p:nvSpPr>
        <p:spPr>
          <a:xfrm>
            <a:off x="2332411" y="1021278"/>
            <a:ext cx="223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Averaged over all 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A3D18-7E6A-D94D-A713-BE68FDEB9A15}"/>
              </a:ext>
            </a:extLst>
          </p:cNvPr>
          <p:cNvSpPr txBox="1"/>
          <p:nvPr/>
        </p:nvSpPr>
        <p:spPr>
          <a:xfrm>
            <a:off x="8030908" y="1021278"/>
            <a:ext cx="159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0.2 &lt;= Pt &lt; 0.3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ABF14-7A1B-2C6D-CDC6-E5DC0089C2DB}"/>
              </a:ext>
            </a:extLst>
          </p:cNvPr>
          <p:cNvSpPr txBox="1"/>
          <p:nvPr/>
        </p:nvSpPr>
        <p:spPr>
          <a:xfrm>
            <a:off x="2293036" y="5606757"/>
            <a:ext cx="7605928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Binning in Pt increases A_LU from </a:t>
            </a:r>
            <a:r>
              <a:rPr lang="en-US" b="1" dirty="0">
                <a:solidFill>
                  <a:srgbClr val="FF0000"/>
                </a:solidFill>
              </a:rPr>
              <a:t>+0.0227 +/- 0.0095 </a:t>
            </a:r>
            <a:r>
              <a:rPr lang="en-US" dirty="0"/>
              <a:t>to </a:t>
            </a:r>
            <a:r>
              <a:rPr lang="en-US" b="1" dirty="0">
                <a:solidFill>
                  <a:srgbClr val="00B050"/>
                </a:solidFill>
              </a:rPr>
              <a:t>+0.0470 +/- 0.0188</a:t>
            </a:r>
          </a:p>
          <a:p>
            <a:pPr>
              <a:lnSpc>
                <a:spcPct val="150000"/>
              </a:lnSpc>
            </a:pPr>
            <a:r>
              <a:rPr lang="en-US" dirty="0"/>
              <a:t>Chi2/</a:t>
            </a:r>
            <a:r>
              <a:rPr lang="en-US" dirty="0" err="1"/>
              <a:t>ndf</a:t>
            </a:r>
            <a:r>
              <a:rPr lang="en-US" dirty="0"/>
              <a:t> becomes a lot worse though. Must be due to low stats near phi =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2532C7-1DD4-8436-73FF-BC96EDCE1729}"/>
              </a:ext>
            </a:extLst>
          </p:cNvPr>
          <p:cNvSpPr txBox="1"/>
          <p:nvPr/>
        </p:nvSpPr>
        <p:spPr>
          <a:xfrm>
            <a:off x="321715" y="358346"/>
            <a:ext cx="298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A_LU w/ and w/o Pt binning</a:t>
            </a:r>
          </a:p>
        </p:txBody>
      </p:sp>
    </p:spTree>
    <p:extLst>
      <p:ext uri="{BB962C8B-B14F-4D97-AF65-F5344CB8AC3E}">
        <p14:creationId xmlns:p14="http://schemas.microsoft.com/office/powerpoint/2010/main" val="18907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13F6-0A46-731E-1051-2F1606C8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Helicity Based Charge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95256-0D49-F060-9ECF-EAFD48EC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7" y="1325563"/>
            <a:ext cx="8441760" cy="46236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F9318B-F547-1984-6F70-722587F7F752}"/>
              </a:ext>
            </a:extLst>
          </p:cNvPr>
          <p:cNvSpPr/>
          <p:nvPr/>
        </p:nvSpPr>
        <p:spPr>
          <a:xfrm>
            <a:off x="2999966" y="3156551"/>
            <a:ext cx="842985" cy="160638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05464-EAF4-3375-488F-A301EF09210B}"/>
              </a:ext>
            </a:extLst>
          </p:cNvPr>
          <p:cNvSpPr/>
          <p:nvPr/>
        </p:nvSpPr>
        <p:spPr>
          <a:xfrm>
            <a:off x="3867665" y="4938114"/>
            <a:ext cx="1161535" cy="160638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03B58A-44D8-B6D8-E66F-A575AF5C27DE}"/>
              </a:ext>
            </a:extLst>
          </p:cNvPr>
          <p:cNvCxnSpPr>
            <a:cxnSpLocks/>
          </p:cNvCxnSpPr>
          <p:nvPr/>
        </p:nvCxnSpPr>
        <p:spPr>
          <a:xfrm>
            <a:off x="3842951" y="3243047"/>
            <a:ext cx="8155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42C045-7CA9-E251-0C95-DE80E54B5048}"/>
              </a:ext>
            </a:extLst>
          </p:cNvPr>
          <p:cNvSpPr txBox="1"/>
          <p:nvPr/>
        </p:nvSpPr>
        <p:spPr>
          <a:xfrm>
            <a:off x="4658497" y="306387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 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62D545-90E4-C0C0-5C94-61A6CF8D49EA}"/>
              </a:ext>
            </a:extLst>
          </p:cNvPr>
          <p:cNvCxnSpPr>
            <a:cxnSpLocks/>
          </p:cNvCxnSpPr>
          <p:nvPr/>
        </p:nvCxnSpPr>
        <p:spPr>
          <a:xfrm flipV="1">
            <a:off x="3867665" y="3637370"/>
            <a:ext cx="790832" cy="13007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D7C5C8-0670-4354-04FF-EB0AEEA91AED}"/>
              </a:ext>
            </a:extLst>
          </p:cNvPr>
          <p:cNvSpPr txBox="1"/>
          <p:nvPr/>
        </p:nvSpPr>
        <p:spPr>
          <a:xfrm>
            <a:off x="4662614" y="3463411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99867B-C282-2F69-E5CE-60FE460EEF76}"/>
                  </a:ext>
                </a:extLst>
              </p:cNvPr>
              <p:cNvSpPr txBox="1"/>
              <p:nvPr/>
            </p:nvSpPr>
            <p:spPr>
              <a:xfrm>
                <a:off x="9141707" y="2941790"/>
                <a:ext cx="2571538" cy="491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BCM2_Q_hp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num>
                      <m:den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99867B-C282-2F69-E5CE-60FE460EE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707" y="2941790"/>
                <a:ext cx="2571538" cy="491096"/>
              </a:xfrm>
              <a:prstGeom prst="rect">
                <a:avLst/>
              </a:prstGeom>
              <a:blipFill>
                <a:blip r:embed="rId3"/>
                <a:stretch>
                  <a:fillRect l="-2463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73A27F-FB1C-7B98-9B3F-05A86C47E601}"/>
                  </a:ext>
                </a:extLst>
              </p:cNvPr>
              <p:cNvSpPr txBox="1"/>
              <p:nvPr/>
            </p:nvSpPr>
            <p:spPr>
              <a:xfrm>
                <a:off x="9151671" y="3460667"/>
                <a:ext cx="2642070" cy="491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BCM2_Q_hm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num>
                      <m:den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73A27F-FB1C-7B98-9B3F-05A86C47E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671" y="3460667"/>
                <a:ext cx="2642070" cy="491096"/>
              </a:xfrm>
              <a:prstGeom prst="rect">
                <a:avLst/>
              </a:prstGeom>
              <a:blipFill>
                <a:blip r:embed="rId4"/>
                <a:stretch>
                  <a:fillRect l="-1914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Brace 18">
            <a:extLst>
              <a:ext uri="{FF2B5EF4-FFF2-40B4-BE49-F238E27FC236}">
                <a16:creationId xmlns:a16="http://schemas.microsoft.com/office/drawing/2014/main" id="{815A4E8C-8263-4EF5-1069-C02BB0B4AE73}"/>
              </a:ext>
            </a:extLst>
          </p:cNvPr>
          <p:cNvSpPr/>
          <p:nvPr/>
        </p:nvSpPr>
        <p:spPr>
          <a:xfrm>
            <a:off x="5173382" y="3063875"/>
            <a:ext cx="275948" cy="76886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6D1962-A8FA-BD0A-7C2C-E449ACC187A2}"/>
              </a:ext>
            </a:extLst>
          </p:cNvPr>
          <p:cNvCxnSpPr>
            <a:cxnSpLocks/>
          </p:cNvCxnSpPr>
          <p:nvPr/>
        </p:nvCxnSpPr>
        <p:spPr>
          <a:xfrm>
            <a:off x="5445209" y="3448309"/>
            <a:ext cx="3464013" cy="12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CB27354-B288-BD8F-E164-185CAE622098}"/>
              </a:ext>
            </a:extLst>
          </p:cNvPr>
          <p:cNvSpPr/>
          <p:nvPr/>
        </p:nvSpPr>
        <p:spPr>
          <a:xfrm rot="10800000">
            <a:off x="8892742" y="2892361"/>
            <a:ext cx="286934" cy="1129161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292B2E-84F7-2C28-80F8-663CBC6D9E07}"/>
              </a:ext>
            </a:extLst>
          </p:cNvPr>
          <p:cNvSpPr txBox="1"/>
          <p:nvPr/>
        </p:nvSpPr>
        <p:spPr>
          <a:xfrm>
            <a:off x="2225453" y="6079288"/>
            <a:ext cx="7741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only for SIDIS &amp; HEEP runs. Assign -999 for the rest.</a:t>
            </a:r>
          </a:p>
          <a:p>
            <a:r>
              <a:rPr lang="en-US" dirty="0"/>
              <a:t>Make sure to use all the available decimal places to minimize round off error.</a:t>
            </a:r>
          </a:p>
        </p:txBody>
      </p:sp>
    </p:spTree>
    <p:extLst>
      <p:ext uri="{BB962C8B-B14F-4D97-AF65-F5344CB8AC3E}">
        <p14:creationId xmlns:p14="http://schemas.microsoft.com/office/powerpoint/2010/main" val="1686555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548B-D735-5788-F845-E1CEFF6D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59A00C-7E05-DCF3-8691-A924CDEF8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71" y="583659"/>
            <a:ext cx="4767326" cy="5690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83EE9A-BD27-9148-EF77-A70C13EFE5C5}"/>
              </a:ext>
            </a:extLst>
          </p:cNvPr>
          <p:cNvSpPr txBox="1"/>
          <p:nvPr/>
        </p:nvSpPr>
        <p:spPr>
          <a:xfrm>
            <a:off x="7932976" y="119269"/>
            <a:ext cx="244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Exclusive (Mx &lt;= 1.05)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BCBC01-A59B-069A-2666-1B6B90794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783" y="583659"/>
            <a:ext cx="3673953" cy="56906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C579D9-D85A-F26F-3247-444AEAC4D78D}"/>
              </a:ext>
            </a:extLst>
          </p:cNvPr>
          <p:cNvSpPr txBox="1"/>
          <p:nvPr/>
        </p:nvSpPr>
        <p:spPr>
          <a:xfrm>
            <a:off x="1457601" y="214327"/>
            <a:ext cx="322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Exclusive (0.85 &lt;= Mx &lt;= 1.05)</a:t>
            </a:r>
          </a:p>
        </p:txBody>
      </p:sp>
    </p:spTree>
    <p:extLst>
      <p:ext uri="{BB962C8B-B14F-4D97-AF65-F5344CB8AC3E}">
        <p14:creationId xmlns:p14="http://schemas.microsoft.com/office/powerpoint/2010/main" val="149500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5A37-8E7B-1C59-D1E2-04492E92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A-dependence of Beam Single Spin Asymmetry using Hall C R-SIDIS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E3CD5-1776-A811-F72A-F9C26B028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083" y="1841430"/>
            <a:ext cx="3767833" cy="1587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29B68B-A471-4218-B1A7-521329687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79742"/>
            <a:ext cx="4706678" cy="1587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902EF5-7982-EF81-F7E9-A3E2D9ED0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878" y="3579742"/>
            <a:ext cx="5945170" cy="1906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278DB2-71F0-A340-10BC-BAD430F3C3F9}"/>
              </a:ext>
            </a:extLst>
          </p:cNvPr>
          <p:cNvSpPr txBox="1"/>
          <p:nvPr/>
        </p:nvSpPr>
        <p:spPr>
          <a:xfrm>
            <a:off x="3081840" y="6308209"/>
            <a:ext cx="602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PHYSICAL REVIEW LETTERS 128, 062005 (2022)</a:t>
            </a:r>
          </a:p>
        </p:txBody>
      </p:sp>
    </p:spTree>
    <p:extLst>
      <p:ext uri="{BB962C8B-B14F-4D97-AF65-F5344CB8AC3E}">
        <p14:creationId xmlns:p14="http://schemas.microsoft.com/office/powerpoint/2010/main" val="2840374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CA18584-BDD7-C40B-46C8-427ABC73A731}"/>
              </a:ext>
            </a:extLst>
          </p:cNvPr>
          <p:cNvSpPr txBox="1"/>
          <p:nvPr/>
        </p:nvSpPr>
        <p:spPr>
          <a:xfrm>
            <a:off x="1931812" y="481353"/>
            <a:ext cx="237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SIDIS (Mx &gt;= 1.5 GeV)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36E18F-4E91-7D31-2AA1-159DA5C41627}"/>
              </a:ext>
            </a:extLst>
          </p:cNvPr>
          <p:cNvSpPr txBox="1"/>
          <p:nvPr/>
        </p:nvSpPr>
        <p:spPr>
          <a:xfrm>
            <a:off x="7500897" y="481353"/>
            <a:ext cx="291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Exclusive (Mx &lt;= 1.05 GeV)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DD376-4A2A-B1B6-356A-B7B31F5600F3}"/>
              </a:ext>
            </a:extLst>
          </p:cNvPr>
          <p:cNvSpPr txBox="1"/>
          <p:nvPr/>
        </p:nvSpPr>
        <p:spPr>
          <a:xfrm>
            <a:off x="211015" y="81243"/>
            <a:ext cx="5814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Beam Single Spin Asymmetry (SIDIS &amp; Exclusive)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515F3E-54FF-3561-2914-36B094B0F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923" y="850685"/>
            <a:ext cx="4833734" cy="595572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5F9591-FD01-F5C8-85D2-7293A36AA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0" y="850685"/>
            <a:ext cx="4895986" cy="595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71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BD1A-B65C-F1C6-BAE9-D0784B8E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999D5A-E21F-D8C0-DF58-2E7E2382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66" y="850685"/>
            <a:ext cx="4132793" cy="59323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5D121C-1E0F-B86A-2ED3-067E5AC6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63" y="850685"/>
            <a:ext cx="4960774" cy="59323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01DC656-6F54-8F8F-9E14-D9E0C726A583}"/>
              </a:ext>
            </a:extLst>
          </p:cNvPr>
          <p:cNvSpPr txBox="1"/>
          <p:nvPr/>
        </p:nvSpPr>
        <p:spPr>
          <a:xfrm>
            <a:off x="211015" y="81243"/>
            <a:ext cx="786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A-dependence of Beam Single Spin Asymmetry (SIDIS &amp; Exclusive)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AFFE45-B56F-E65A-D58D-0F161FACEF89}"/>
              </a:ext>
            </a:extLst>
          </p:cNvPr>
          <p:cNvSpPr txBox="1"/>
          <p:nvPr/>
        </p:nvSpPr>
        <p:spPr>
          <a:xfrm>
            <a:off x="1931812" y="481353"/>
            <a:ext cx="237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SIDIS (Mx &gt;= 1.5 GeV)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C0125-5FF8-06EB-A89D-B80F8A194DB9}"/>
              </a:ext>
            </a:extLst>
          </p:cNvPr>
          <p:cNvSpPr txBox="1"/>
          <p:nvPr/>
        </p:nvSpPr>
        <p:spPr>
          <a:xfrm>
            <a:off x="7500897" y="481353"/>
            <a:ext cx="291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Exclusive (Mx &lt;= 1.05 GeV)</a:t>
            </a:r>
          </a:p>
        </p:txBody>
      </p:sp>
    </p:spTree>
    <p:extLst>
      <p:ext uri="{BB962C8B-B14F-4D97-AF65-F5344CB8AC3E}">
        <p14:creationId xmlns:p14="http://schemas.microsoft.com/office/powerpoint/2010/main" val="58520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A603-8377-93B4-33AD-B8AF5DD2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0C5C-DF96-B478-9068-275EB692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11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42536-EF8E-1508-EEB7-714C7A34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113E-509D-1116-F1F8-3901AA48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29" y="149244"/>
            <a:ext cx="2992425" cy="31189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96CF98-374F-D3FE-7738-05B7FA785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99" y="3523210"/>
            <a:ext cx="3076095" cy="32564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60827E-FA29-78CC-9C91-F3A881665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3" y="105878"/>
            <a:ext cx="3066220" cy="3162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3C3286-7728-F569-7415-ADF7C8DB25A2}"/>
              </a:ext>
            </a:extLst>
          </p:cNvPr>
          <p:cNvSpPr txBox="1"/>
          <p:nvPr/>
        </p:nvSpPr>
        <p:spPr>
          <a:xfrm>
            <a:off x="384074" y="180875"/>
            <a:ext cx="35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39E35-7CD9-90B0-BB01-333E6378FAF9}"/>
              </a:ext>
            </a:extLst>
          </p:cNvPr>
          <p:cNvSpPr txBox="1"/>
          <p:nvPr/>
        </p:nvSpPr>
        <p:spPr>
          <a:xfrm>
            <a:off x="1476275" y="3153878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955D7-028E-5BA8-6935-789ABC257515}"/>
              </a:ext>
            </a:extLst>
          </p:cNvPr>
          <p:cNvSpPr txBox="1"/>
          <p:nvPr/>
        </p:nvSpPr>
        <p:spPr>
          <a:xfrm>
            <a:off x="1708997" y="147835"/>
            <a:ext cx="14432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SIDIS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Delta (0.8%)</a:t>
            </a:r>
          </a:p>
          <a:p>
            <a:r>
              <a:rPr lang="en-US" sz="1400" dirty="0">
                <a:solidFill>
                  <a:srgbClr val="0432FF"/>
                </a:solidFill>
              </a:rPr>
              <a:t>Exclusive (1.3%)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ED9E89-EB61-A20F-265F-6C38FA3A7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380" y="147835"/>
            <a:ext cx="2823284" cy="31623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90FE8CE-216A-CD00-043F-5567661506A3}"/>
              </a:ext>
            </a:extLst>
          </p:cNvPr>
          <p:cNvSpPr txBox="1"/>
          <p:nvPr/>
        </p:nvSpPr>
        <p:spPr>
          <a:xfrm>
            <a:off x="5274022" y="180875"/>
            <a:ext cx="14432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SIDIS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Delta (1.1%)</a:t>
            </a:r>
          </a:p>
          <a:p>
            <a:r>
              <a:rPr lang="en-US" sz="1400" dirty="0">
                <a:solidFill>
                  <a:srgbClr val="0432FF"/>
                </a:solidFill>
              </a:rPr>
              <a:t>Exclusive (1.9%)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262A7-6115-9386-3862-5BF301284397}"/>
              </a:ext>
            </a:extLst>
          </p:cNvPr>
          <p:cNvSpPr txBox="1"/>
          <p:nvPr/>
        </p:nvSpPr>
        <p:spPr>
          <a:xfrm>
            <a:off x="4120065" y="180875"/>
            <a:ext cx="5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22EA53-B0BC-BCB5-955C-75DFE816CEA8}"/>
              </a:ext>
            </a:extLst>
          </p:cNvPr>
          <p:cNvSpPr txBox="1"/>
          <p:nvPr/>
        </p:nvSpPr>
        <p:spPr>
          <a:xfrm>
            <a:off x="8873448" y="180875"/>
            <a:ext cx="14432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SIDIS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Delta (0.7%)</a:t>
            </a:r>
          </a:p>
          <a:p>
            <a:r>
              <a:rPr lang="en-US" sz="1400" dirty="0">
                <a:solidFill>
                  <a:srgbClr val="0432FF"/>
                </a:solidFill>
              </a:rPr>
              <a:t>Exclusive (1.2%)</a:t>
            </a:r>
          </a:p>
          <a:p>
            <a:r>
              <a:rPr lang="en-US" sz="1400" dirty="0">
                <a:solidFill>
                  <a:srgbClr val="00B050"/>
                </a:solidFill>
              </a:rPr>
              <a:t>Rho (3.6%)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A9149B-5F61-9490-2D6F-CDE0A432452F}"/>
              </a:ext>
            </a:extLst>
          </p:cNvPr>
          <p:cNvSpPr txBox="1"/>
          <p:nvPr/>
        </p:nvSpPr>
        <p:spPr>
          <a:xfrm>
            <a:off x="372028" y="4543124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Z = 0.36, </a:t>
            </a:r>
            <a:r>
              <a:rPr lang="en-US" b="1" dirty="0" err="1"/>
              <a:t>thpq</a:t>
            </a:r>
            <a:r>
              <a:rPr lang="en-US" b="1" dirty="0"/>
              <a:t> = 2.0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B03F25-6961-9890-C83F-37E8E19AAD21}"/>
              </a:ext>
            </a:extLst>
          </p:cNvPr>
          <p:cNvSpPr txBox="1"/>
          <p:nvPr/>
        </p:nvSpPr>
        <p:spPr>
          <a:xfrm>
            <a:off x="7609568" y="180875"/>
            <a:ext cx="66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8870F3-123F-890F-F938-88A14C8D67E2}"/>
              </a:ext>
            </a:extLst>
          </p:cNvPr>
          <p:cNvSpPr txBox="1"/>
          <p:nvPr/>
        </p:nvSpPr>
        <p:spPr>
          <a:xfrm>
            <a:off x="4051525" y="3692492"/>
            <a:ext cx="66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LH2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16CD1F-404B-02AC-3D3E-D6BB3A8A6DA9}"/>
              </a:ext>
            </a:extLst>
          </p:cNvPr>
          <p:cNvSpPr txBox="1"/>
          <p:nvPr/>
        </p:nvSpPr>
        <p:spPr>
          <a:xfrm>
            <a:off x="5310878" y="3692492"/>
            <a:ext cx="14432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SIDIS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Delta (0.3%)</a:t>
            </a:r>
          </a:p>
          <a:p>
            <a:r>
              <a:rPr lang="en-US" sz="1400" dirty="0">
                <a:solidFill>
                  <a:srgbClr val="0432FF"/>
                </a:solidFill>
              </a:rPr>
              <a:t>Exclusive (1.7%)</a:t>
            </a:r>
          </a:p>
          <a:p>
            <a:r>
              <a:rPr lang="en-US" sz="1400" dirty="0">
                <a:solidFill>
                  <a:srgbClr val="00B050"/>
                </a:solidFill>
              </a:rPr>
              <a:t>Rho (2.7%)</a:t>
            </a:r>
          </a:p>
        </p:txBody>
      </p:sp>
    </p:spTree>
    <p:extLst>
      <p:ext uri="{BB962C8B-B14F-4D97-AF65-F5344CB8AC3E}">
        <p14:creationId xmlns:p14="http://schemas.microsoft.com/office/powerpoint/2010/main" val="1785467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190E-33ED-E4A3-2968-867C661F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B30B1-CF22-6147-F708-1F43952E7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5595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2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3F17-837D-9625-1D1E-48F8E1CA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5BD917-60F2-957B-A0E8-BB0168C4FE91}"/>
              </a:ext>
            </a:extLst>
          </p:cNvPr>
          <p:cNvSpPr txBox="1"/>
          <p:nvPr/>
        </p:nvSpPr>
        <p:spPr>
          <a:xfrm>
            <a:off x="3773088" y="3244334"/>
            <a:ext cx="4789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Updates during </a:t>
            </a:r>
            <a:r>
              <a:rPr lang="en-US" b="1" dirty="0" err="1"/>
              <a:t>phaseII</a:t>
            </a:r>
            <a:r>
              <a:rPr lang="en-US" b="1" dirty="0"/>
              <a:t> running - 08/02/2026</a:t>
            </a:r>
          </a:p>
        </p:txBody>
      </p:sp>
    </p:spTree>
    <p:extLst>
      <p:ext uri="{BB962C8B-B14F-4D97-AF65-F5344CB8AC3E}">
        <p14:creationId xmlns:p14="http://schemas.microsoft.com/office/powerpoint/2010/main" val="96019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A006-86A2-4337-B219-8D6A5BB0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8201-79C7-0F8B-3BDE-CC60EBE4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A-dependence of Beam Single Spin Asymmetry using Hall C R-SIDIS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C8EB-C668-C272-6FE7-DED242014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083" y="1841430"/>
            <a:ext cx="3767833" cy="1587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D79A1-E2AF-1BB7-1A0C-04EDE5526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79742"/>
            <a:ext cx="4706678" cy="1587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B895B-5F44-9FCB-0F23-AF0C9350D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878" y="3579742"/>
            <a:ext cx="5945170" cy="1906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61A0AA-537A-5B3C-814A-B2BB0ED01AA0}"/>
              </a:ext>
            </a:extLst>
          </p:cNvPr>
          <p:cNvSpPr txBox="1"/>
          <p:nvPr/>
        </p:nvSpPr>
        <p:spPr>
          <a:xfrm>
            <a:off x="3081840" y="6308209"/>
            <a:ext cx="602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PHYSICAL REVIEW LETTERS 128, 062005 (2022)</a:t>
            </a:r>
          </a:p>
        </p:txBody>
      </p:sp>
    </p:spTree>
    <p:extLst>
      <p:ext uri="{BB962C8B-B14F-4D97-AF65-F5344CB8AC3E}">
        <p14:creationId xmlns:p14="http://schemas.microsoft.com/office/powerpoint/2010/main" val="1759020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E14B8D9-3F02-F09C-83C5-6F97C5989EFC}"/>
              </a:ext>
            </a:extLst>
          </p:cNvPr>
          <p:cNvSpPr txBox="1"/>
          <p:nvPr/>
        </p:nvSpPr>
        <p:spPr>
          <a:xfrm>
            <a:off x="2788982" y="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X=0.25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F03AA-B98D-9DEA-FB22-66900AD79196}"/>
              </a:ext>
            </a:extLst>
          </p:cNvPr>
          <p:cNvSpPr txBox="1"/>
          <p:nvPr/>
        </p:nvSpPr>
        <p:spPr>
          <a:xfrm>
            <a:off x="8436979" y="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X=0.44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5647D8-E7A5-BCC9-A884-418210D36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59" y="348309"/>
            <a:ext cx="4231299" cy="65096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F6830A-8991-4D9F-1720-362CF1B8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063" y="348308"/>
            <a:ext cx="4245009" cy="650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97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D16F-54EC-FD0F-FCEF-A59B02F2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04A384-A82A-616B-A1D2-BA43A0C73E0D}"/>
              </a:ext>
            </a:extLst>
          </p:cNvPr>
          <p:cNvSpPr txBox="1"/>
          <p:nvPr/>
        </p:nvSpPr>
        <p:spPr>
          <a:xfrm>
            <a:off x="2358424" y="0"/>
            <a:ext cx="238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Using collected stats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37554-BA53-9801-F85C-B949B2DD932E}"/>
              </a:ext>
            </a:extLst>
          </p:cNvPr>
          <p:cNvSpPr txBox="1"/>
          <p:nvPr/>
        </p:nvSpPr>
        <p:spPr>
          <a:xfrm>
            <a:off x="5937619" y="0"/>
            <a:ext cx="6131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Projection assuming double stats of C at all </a:t>
            </a:r>
            <a:r>
              <a:rPr lang="en-US" b="1" dirty="0" err="1"/>
              <a:t>thpq</a:t>
            </a:r>
            <a:r>
              <a:rPr lang="en-US" b="1" dirty="0"/>
              <a:t> settings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EC70C4-DB1E-140D-7CFC-6340C2800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91" y="369332"/>
            <a:ext cx="4211430" cy="6488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3264A-1198-D6DF-64D9-6374B504B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53" y="369332"/>
            <a:ext cx="4211430" cy="648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17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76465A-BC30-7D68-8D35-117C11795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" y="4034236"/>
            <a:ext cx="5852599" cy="2529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BD743-876D-ABB4-D069-03292816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513" y="622434"/>
            <a:ext cx="6096000" cy="2592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5938B1-C173-4EF0-89D8-BDF1618B7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7" y="702574"/>
            <a:ext cx="5852600" cy="24319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A3AC1-90F4-BE66-B078-DE3497BB54B9}"/>
              </a:ext>
            </a:extLst>
          </p:cNvPr>
          <p:cNvSpPr txBox="1"/>
          <p:nvPr/>
        </p:nvSpPr>
        <p:spPr>
          <a:xfrm>
            <a:off x="2454063" y="118857"/>
            <a:ext cx="1284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C, </a:t>
            </a:r>
            <a:r>
              <a:rPr lang="en-US" b="1" dirty="0" err="1"/>
              <a:t>thpq</a:t>
            </a:r>
            <a:r>
              <a:rPr lang="en-US" b="1" dirty="0"/>
              <a:t>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18380-A6B7-BBBB-C609-52B103D11CBA}"/>
              </a:ext>
            </a:extLst>
          </p:cNvPr>
          <p:cNvSpPr txBox="1"/>
          <p:nvPr/>
        </p:nvSpPr>
        <p:spPr>
          <a:xfrm>
            <a:off x="8709202" y="118857"/>
            <a:ext cx="147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C, </a:t>
            </a:r>
            <a:r>
              <a:rPr lang="en-US" b="1" dirty="0" err="1"/>
              <a:t>thpq</a:t>
            </a:r>
            <a:r>
              <a:rPr lang="en-US" b="1" dirty="0"/>
              <a:t> = 2.0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47CD3A-31B7-B7B4-3079-BA64CDB1CC73}"/>
              </a:ext>
            </a:extLst>
          </p:cNvPr>
          <p:cNvSpPr txBox="1"/>
          <p:nvPr/>
        </p:nvSpPr>
        <p:spPr>
          <a:xfrm>
            <a:off x="2388874" y="3538859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C, </a:t>
            </a:r>
            <a:r>
              <a:rPr lang="en-US" b="1" dirty="0" err="1"/>
              <a:t>thpq</a:t>
            </a:r>
            <a:r>
              <a:rPr lang="en-US" b="1" dirty="0"/>
              <a:t> = -2.0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1E3AE8-4B99-9071-FF02-E1EC91A7E064}"/>
              </a:ext>
            </a:extLst>
          </p:cNvPr>
          <p:cNvSpPr txBox="1"/>
          <p:nvPr/>
        </p:nvSpPr>
        <p:spPr>
          <a:xfrm>
            <a:off x="8180532" y="3547118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LH2 (3 </a:t>
            </a:r>
            <a:r>
              <a:rPr lang="en-US" b="1" dirty="0" err="1"/>
              <a:t>thpq</a:t>
            </a:r>
            <a:r>
              <a:rPr lang="en-US" b="1" dirty="0"/>
              <a:t> combined)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1EC1D8-D294-E56A-1A00-DE7AA54A7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199" y="3953929"/>
            <a:ext cx="4309535" cy="26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99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AD4B-A1CE-91D6-0496-A72268B3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8B0A-8285-E48F-8AF0-4E630F6F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BSA Analysis: A_LU vs 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56E84-C3E2-0311-4934-D4EE26CD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Settings:</a:t>
            </a:r>
          </a:p>
          <a:p>
            <a:pPr lvl="1"/>
            <a:r>
              <a:rPr lang="en-US" dirty="0"/>
              <a:t>Target	: C</a:t>
            </a:r>
          </a:p>
          <a:p>
            <a:pPr lvl="1"/>
            <a:r>
              <a:rPr lang="en-US" dirty="0"/>
              <a:t>Hadron	: pi+</a:t>
            </a:r>
          </a:p>
          <a:p>
            <a:pPr lvl="1"/>
            <a:r>
              <a:rPr lang="en-US" dirty="0"/>
              <a:t>x		: 0.44</a:t>
            </a:r>
          </a:p>
          <a:p>
            <a:pPr lvl="1"/>
            <a:r>
              <a:rPr lang="en-US" dirty="0"/>
              <a:t>z		: 0.52</a:t>
            </a:r>
          </a:p>
          <a:p>
            <a:pPr lvl="1"/>
            <a:r>
              <a:rPr lang="en-US" dirty="0" err="1"/>
              <a:t>thpq</a:t>
            </a:r>
            <a:r>
              <a:rPr lang="en-US" dirty="0"/>
              <a:t>	: -2.0, 0 and 2.0 (combined analysis)</a:t>
            </a:r>
          </a:p>
        </p:txBody>
      </p:sp>
    </p:spTree>
    <p:extLst>
      <p:ext uri="{BB962C8B-B14F-4D97-AF65-F5344CB8AC3E}">
        <p14:creationId xmlns:p14="http://schemas.microsoft.com/office/powerpoint/2010/main" val="940084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95FB-BE4F-0CFE-3B3F-66CC30131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2FFE6-64DA-8BA5-AFBC-B2789C44DF72}"/>
              </a:ext>
            </a:extLst>
          </p:cNvPr>
          <p:cNvSpPr txBox="1"/>
          <p:nvPr/>
        </p:nvSpPr>
        <p:spPr>
          <a:xfrm>
            <a:off x="2143271" y="0"/>
            <a:ext cx="2497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w/o Additional C Stats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83212-427E-AE58-E453-2E3177AC0E59}"/>
              </a:ext>
            </a:extLst>
          </p:cNvPr>
          <p:cNvSpPr txBox="1"/>
          <p:nvPr/>
        </p:nvSpPr>
        <p:spPr>
          <a:xfrm>
            <a:off x="7968125" y="-13447"/>
            <a:ext cx="237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w/ Additional C Stats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F2485-8EE6-B639-B442-2C4F0B761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91" y="369332"/>
            <a:ext cx="4211430" cy="64886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56C807-E90E-52F3-003E-38BAAF231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627" y="369332"/>
            <a:ext cx="4228570" cy="648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80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1C99-7D39-7C47-B068-4F8FE847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542184"/>
          </a:xfrm>
        </p:spPr>
        <p:txBody>
          <a:bodyPr>
            <a:normAutofit/>
          </a:bodyPr>
          <a:lstStyle/>
          <a:p>
            <a:r>
              <a:rPr lang="en-US" sz="2800" b="1" dirty="0"/>
              <a:t>Pt Coverage at x=0.44 for LH2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62C53-4860-A548-5ABB-F25D0AD05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2" y="1103679"/>
            <a:ext cx="5746449" cy="2403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FE1E73-288F-FF8B-4F28-0102726F2C34}"/>
              </a:ext>
            </a:extLst>
          </p:cNvPr>
          <p:cNvSpPr txBox="1"/>
          <p:nvPr/>
        </p:nvSpPr>
        <p:spPr>
          <a:xfrm>
            <a:off x="8495071" y="647394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thpq</a:t>
            </a:r>
            <a:r>
              <a:rPr lang="en-US" b="1" dirty="0"/>
              <a:t> = -2.0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001EF4-E690-0B28-AF09-0C1401D5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103680"/>
            <a:ext cx="5806442" cy="2403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8AF494-4CC5-3341-B799-4E91001A1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18" y="4164197"/>
            <a:ext cx="5746449" cy="2376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7E2720-0E75-9738-B508-A80B10C7BCB1}"/>
              </a:ext>
            </a:extLst>
          </p:cNvPr>
          <p:cNvSpPr txBox="1"/>
          <p:nvPr/>
        </p:nvSpPr>
        <p:spPr>
          <a:xfrm>
            <a:off x="2263460" y="647394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thpq</a:t>
            </a:r>
            <a:r>
              <a:rPr lang="en-US" b="1" dirty="0"/>
              <a:t> = 2.0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EE3DD0-09A4-26CB-7780-1335B39BA8FB}"/>
              </a:ext>
            </a:extLst>
          </p:cNvPr>
          <p:cNvSpPr txBox="1"/>
          <p:nvPr/>
        </p:nvSpPr>
        <p:spPr>
          <a:xfrm>
            <a:off x="5591695" y="3794863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thpq</a:t>
            </a:r>
            <a:r>
              <a:rPr lang="en-US" b="1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746637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4E238-397A-529B-D547-1AD5F864B41C}"/>
              </a:ext>
            </a:extLst>
          </p:cNvPr>
          <p:cNvSpPr txBox="1">
            <a:spLocks/>
          </p:cNvSpPr>
          <p:nvPr/>
        </p:nvSpPr>
        <p:spPr>
          <a:xfrm>
            <a:off x="838200" y="18256"/>
            <a:ext cx="10515600" cy="54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/>
              <a:t>Pt Coverage at x=0.44 for LH2</a:t>
            </a:r>
            <a:endParaRPr 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3808D9-693F-EB50-6678-4489B6582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420" y="4763687"/>
            <a:ext cx="7772400" cy="2094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539E88-F79E-DDE2-6E86-B4A6DC98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560440"/>
            <a:ext cx="7772400" cy="2080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272CD1-ED8A-CE2F-5EB6-D550E5F87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2688753"/>
            <a:ext cx="7772400" cy="20520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82743E-E4BA-3AA2-FD54-D103D685BA97}"/>
              </a:ext>
            </a:extLst>
          </p:cNvPr>
          <p:cNvSpPr txBox="1"/>
          <p:nvPr/>
        </p:nvSpPr>
        <p:spPr>
          <a:xfrm>
            <a:off x="838200" y="1416114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thpq</a:t>
            </a:r>
            <a:r>
              <a:rPr lang="en-US" b="1" dirty="0"/>
              <a:t> = 2.0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8445D-D801-FE85-E4BE-5565A1002D97}"/>
              </a:ext>
            </a:extLst>
          </p:cNvPr>
          <p:cNvSpPr txBox="1"/>
          <p:nvPr/>
        </p:nvSpPr>
        <p:spPr>
          <a:xfrm>
            <a:off x="838200" y="3530124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thpq</a:t>
            </a:r>
            <a:r>
              <a:rPr lang="en-US" b="1" dirty="0"/>
              <a:t> = -2.0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D22CCD-E2C2-F412-CD86-E6D295F46289}"/>
              </a:ext>
            </a:extLst>
          </p:cNvPr>
          <p:cNvSpPr txBox="1"/>
          <p:nvPr/>
        </p:nvSpPr>
        <p:spPr>
          <a:xfrm>
            <a:off x="838200" y="5626177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thpq</a:t>
            </a:r>
            <a:r>
              <a:rPr lang="en-US" b="1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719551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E3DC-B96C-CDB3-8642-D3DDD4F9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SIMC</a:t>
            </a:r>
          </a:p>
        </p:txBody>
      </p:sp>
    </p:spTree>
    <p:extLst>
      <p:ext uri="{BB962C8B-B14F-4D97-AF65-F5344CB8AC3E}">
        <p14:creationId xmlns:p14="http://schemas.microsoft.com/office/powerpoint/2010/main" val="1267867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2AA4-F628-7C9E-551A-7AF845AA1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E1F3BB-7EC8-311F-0DE5-10E88B9C8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0" y="1085973"/>
            <a:ext cx="5613926" cy="1023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4FF4B9-776B-FE39-C660-86FAA2CC4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19" y="2516549"/>
            <a:ext cx="5613926" cy="1495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10CFD1-7A16-A3B3-D8D8-C5A8DBBBE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20" y="4539358"/>
            <a:ext cx="3127068" cy="11264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79733D-A04F-0F92-67AF-4830E2C72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05" y="6020106"/>
            <a:ext cx="2428503" cy="3469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88DFD4-B957-855D-37A5-7E395896F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067" y="2921000"/>
            <a:ext cx="25273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50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6C8-BC57-E137-D763-7FD5D11E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98092F8-FA42-8F59-0DB6-0CCB9CA8C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713" y="0"/>
            <a:ext cx="564728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2A875C-7858-8066-2E8C-4724BEE71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3" y="1316715"/>
            <a:ext cx="6423660" cy="422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7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1CDB71-41B6-0039-E55E-4501D6C2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4" y="2034539"/>
            <a:ext cx="6249100" cy="3687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220A49-0224-48F9-E7BA-C528D425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823" y="105653"/>
            <a:ext cx="5285685" cy="3169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1A6636-F034-24FC-584F-7FA363ED0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823" y="3582440"/>
            <a:ext cx="5193365" cy="3175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D8BD0B-8A7A-B82D-9DC8-874D8DE0A588}"/>
              </a:ext>
            </a:extLst>
          </p:cNvPr>
          <p:cNvSpPr txBox="1"/>
          <p:nvPr/>
        </p:nvSpPr>
        <p:spPr>
          <a:xfrm>
            <a:off x="556592" y="766237"/>
            <a:ext cx="4803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Run 28250 | Check of avg. BCM param | COIN</a:t>
            </a:r>
          </a:p>
        </p:txBody>
      </p:sp>
    </p:spTree>
    <p:extLst>
      <p:ext uri="{BB962C8B-B14F-4D97-AF65-F5344CB8AC3E}">
        <p14:creationId xmlns:p14="http://schemas.microsoft.com/office/powerpoint/2010/main" val="2268145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F4E044-CB91-F5C3-2E9A-5523006A5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72" y="795389"/>
            <a:ext cx="3731571" cy="2589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51C75D-BE6B-9F97-8A17-F3953FD6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215" y="839634"/>
            <a:ext cx="3689569" cy="2589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1CA46E-6A2A-3FFD-DFDF-EF51B1217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828" y="817245"/>
            <a:ext cx="3606800" cy="25456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91D19A-BB4C-17A5-F10D-0C3664146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94" y="3849330"/>
            <a:ext cx="3676449" cy="2545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998B15-9866-BE06-C137-2433C7FB0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323" y="3849330"/>
            <a:ext cx="3710461" cy="2561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6D510A-AB06-9DC2-FD2F-98F0AF62DB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0658" y="3849330"/>
            <a:ext cx="3687140" cy="25615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5E6181-3E67-0125-A023-624FA2142302}"/>
              </a:ext>
            </a:extLst>
          </p:cNvPr>
          <p:cNvSpPr txBox="1"/>
          <p:nvPr/>
        </p:nvSpPr>
        <p:spPr>
          <a:xfrm>
            <a:off x="244372" y="9104"/>
            <a:ext cx="473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Looking at &lt;</a:t>
            </a:r>
            <a:r>
              <a:rPr lang="en-US" b="1" i="1" dirty="0" err="1"/>
              <a:t>ti</a:t>
            </a:r>
            <a:r>
              <a:rPr lang="en-US" b="1" i="1" dirty="0"/>
              <a:t>&gt;</a:t>
            </a:r>
            <a:r>
              <a:rPr lang="en-US" b="1" dirty="0"/>
              <a:t> in 3 different </a:t>
            </a:r>
            <a:r>
              <a:rPr lang="en-US" b="1" i="1" dirty="0"/>
              <a:t>Pt (and </a:t>
            </a:r>
            <a:r>
              <a:rPr lang="en-US" b="1" i="1" dirty="0" err="1"/>
              <a:t>Pti</a:t>
            </a:r>
            <a:r>
              <a:rPr lang="en-US" b="1" i="1" dirty="0"/>
              <a:t>)</a:t>
            </a:r>
            <a:r>
              <a:rPr lang="en-US" b="1" dirty="0"/>
              <a:t> bins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7BF81C-541F-4F08-73D4-BF2E02C24D4D}"/>
              </a:ext>
            </a:extLst>
          </p:cNvPr>
          <p:cNvSpPr txBox="1"/>
          <p:nvPr/>
        </p:nvSpPr>
        <p:spPr>
          <a:xfrm>
            <a:off x="5563787" y="426057"/>
            <a:ext cx="90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Pt bins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5223AA-9835-1310-93CA-325BC1FF7586}"/>
              </a:ext>
            </a:extLst>
          </p:cNvPr>
          <p:cNvSpPr txBox="1"/>
          <p:nvPr/>
        </p:nvSpPr>
        <p:spPr>
          <a:xfrm>
            <a:off x="4802650" y="3454499"/>
            <a:ext cx="2424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Pti</a:t>
            </a:r>
            <a:r>
              <a:rPr lang="en-US" b="1" dirty="0"/>
              <a:t> (i.e. vertex Pt) bins</a:t>
            </a:r>
          </a:p>
        </p:txBody>
      </p:sp>
    </p:spTree>
    <p:extLst>
      <p:ext uri="{BB962C8B-B14F-4D97-AF65-F5344CB8AC3E}">
        <p14:creationId xmlns:p14="http://schemas.microsoft.com/office/powerpoint/2010/main" val="211135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50529</TotalTime>
  <Words>653</Words>
  <Application>Microsoft Macintosh PowerPoint</Application>
  <PresentationFormat>Widescreen</PresentationFormat>
  <Paragraphs>105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Office Theme</vt:lpstr>
      <vt:lpstr>SSA Analysis: A_LU vs Pt</vt:lpstr>
      <vt:lpstr>PowerPoint Presentation</vt:lpstr>
      <vt:lpstr>PowerPoint Presentation</vt:lpstr>
      <vt:lpstr>PowerPoint Presentation</vt:lpstr>
      <vt:lpstr>SSA Analysis: A_LU vs Pt</vt:lpstr>
      <vt:lpstr>PowerPoint Presentation</vt:lpstr>
      <vt:lpstr>PowerPoint Presentation</vt:lpstr>
      <vt:lpstr>PowerPoint Presentation</vt:lpstr>
      <vt:lpstr>Helicity Based Charge</vt:lpstr>
      <vt:lpstr>PowerPoint Presentation</vt:lpstr>
      <vt:lpstr>A-dependence of Beam Single Spin Asymmetry using Hall C R-SIDIS Data</vt:lpstr>
      <vt:lpstr>PowerPoint Presentation</vt:lpstr>
      <vt:lpstr>PowerPoint Presentation</vt:lpstr>
      <vt:lpstr>MC</vt:lpstr>
      <vt:lpstr>PowerPoint Presentation</vt:lpstr>
      <vt:lpstr>PowerPoint Presentation</vt:lpstr>
      <vt:lpstr>PowerPoint Presentation</vt:lpstr>
      <vt:lpstr>A-dependence of Beam Single Spin Asymmetry using Hall C R-SIDIS Data</vt:lpstr>
      <vt:lpstr>PowerPoint Presentation</vt:lpstr>
      <vt:lpstr>PowerPoint Presentation</vt:lpstr>
      <vt:lpstr>PowerPoint Presentation</vt:lpstr>
      <vt:lpstr>BSA Analysis: A_LU vs Pt</vt:lpstr>
      <vt:lpstr>PowerPoint Presentation</vt:lpstr>
      <vt:lpstr>Pt Coverage at x=0.44 for LH2</vt:lpstr>
      <vt:lpstr>PowerPoint Presentation</vt:lpstr>
      <vt:lpstr>SIMC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Provakar Datta</dc:creator>
  <cp:lastModifiedBy>Provakar Datta</cp:lastModifiedBy>
  <cp:revision>1</cp:revision>
  <dcterms:created xsi:type="dcterms:W3CDTF">2026-04-30T20:56:13Z</dcterms:created>
  <dcterms:modified xsi:type="dcterms:W3CDTF">2026-10-01T14:13:08Z</dcterms:modified>
</cp:coreProperties>
</file>